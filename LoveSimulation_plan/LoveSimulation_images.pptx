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무한 회귀 연애 — 기획서 요약</a:t>
            </a:r>
          </a:p>
        </p:txBody>
      </p:sp>
      <p:sp>
        <p:nvSpPr>
          <p:cNvPr id="3" name="Subtitle 2"/>
          <p:cNvSpPr>
            <a:spLocks noGrp="1"/>
          </p:cNvSpPr>
          <p:nvPr>
            <p:ph type="subTitle" idx="1"/>
          </p:nvPr>
        </p:nvSpPr>
        <p:spPr/>
        <p:txBody>
          <a:bodyPr/>
          <a:lstStyle/>
          <a:p>
            <a:r>
              <a:t>생성: 자동화 PPT</a:t>
            </a:r>
          </a:p>
          <a:p>
            <a:r>
              <a:t>출처: 프로젝트 문서 병합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문서 요약</a:t>
            </a:r>
          </a:p>
        </p:txBody>
      </p:sp>
      <p:sp>
        <p:nvSpPr>
          <p:cNvPr id="3" name="Content Placeholder 2"/>
          <p:cNvSpPr>
            <a:spLocks noGrp="1"/>
          </p:cNvSpPr>
          <p:nvPr>
            <p:ph idx="1"/>
          </p:nvPr>
        </p:nvSpPr>
        <p:spPr/>
        <p:txBody>
          <a:bodyPr/>
          <a:lstStyle/>
          <a:p/>
          <a:p>
            <a:pPr/>
            <a:r>
              <a:t>**인공지능 음성 분석과 부조리 서사 결합을 통한 차세대 연애 시뮬레이션의 기술적 가치와 시장 전략 분석**: </a:t>
            </a:r>
          </a:p>
          <a:p>
            <a:pPr/>
            <a:r>
              <a:t>**서론: 기술적 정밀도와 서사적 부조리의 융합**: 2020년대 중반을 지나며 게임 산업은 단순한 그래픽의 발전을 넘어 유저의 감정과 비언어적 데이터를 실시간으로 수용하는 '인터랙티브 인텔리전스'의 시대로 진입하였다. 이러한 흐름 속에서 기획된 \[무한 회귀 연애\]는 인공지능(AI) 기반의 음성 감정 분석 기술과 실제 설문 데이터에 근거한 현실적 로직, 그리고 이를 전복시키는 '병맛(Absurdism)' </a:t>
            </a:r>
          </a:p>
          <a:p>
            <a:pPr/>
            <a:r>
              <a:t>**1\. 보이스 감정 분석 시스템 (V.E.A.)의 기술적 토대와 심리적 기제**: \[무한 회귀 연애\]의 가장 핵심적인 차별화 요소는 유저의 음성에서 '진정성'을 추출해내는 V.E.A. 시스템이다. 이는 단순히 발화 내용을 텍스트로 치환하는 STT(Speech To Text) 단계를 넘어, 목소리의 물리적 파형에서 감정 상태를 읽어내는 SER(Speech Emotion Recognition) 기술의 정점에 위치한다.</a:t>
            </a:r>
          </a:p>
          <a:p>
            <a:pPr/>
            <a:r>
              <a:t>**1.1. 음성 섭동 분석: 지터(Jitter)와 쉬머(Shimmer)의 과학**: 기획서에서 언급된 '목소리의 떨림'을 판정하기 위해서는 음성학적 지표인 지터와 쉬머에 대한 정교한 이해가 필요하다. 지터는 성대 진동의 주기성에서 나타나는 미세한 변화(주파수 섭동)를 의미하며, 쉬머는 진폭의 미세한 변화를 뜻한다.2 인간의 성대는 심리적 긴장 상태에서 자율 신경계의 영향을 받아 불규칙하게 진동한다. 건강하고 안정한 상태의 목소리는 지터 값</a:t>
            </a:r>
          </a:p>
          <a:p>
            <a:pPr/>
            <a:r>
              <a:t>**1.2. 실시간 음성 상호작용의 선행 사례: Suck Up\!과 Silent Kingdom**: 최근 인디 게임 시장에서 주목받은 \*Suck Up\!\*은 AI NPC와의 음성 대화를 통해 잠입을 시도하는 게임으로, 유저의 목소리 톤과 설득 방식에 따라 NPC의 반응이 실시간으로 변화하는 역동적인 구조를 보여준다.5 이 게임은 유저가 마이크를 사용하여 NPC를 유혹하거나 속이는 과정에서 발생하는 기상천외한 답변들을 수용하며, 이는 \[무한 회귀 연애</a:t>
            </a:r>
          </a:p>
          <a:p>
            <a:pPr/>
            <a:r>
              <a:t>**2\. 실제 설문 데이터 기반 로직과 연애의 과학적 재구성**: \[무한 회귀 연애\]의 두 번째 축인 '현실적인 연애 로직'은 실제 여성들의 데이터를 바탕으로 한다. 이는 게임적 허용을 넘어 유저에게 '데이터에 근거한 가차 없는 피드백'을 제공함으로써, 회귀의 당위성을 부여하는 장치이다.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문서 요약</a:t>
            </a:r>
          </a:p>
        </p:txBody>
      </p:sp>
      <p:sp>
        <p:nvSpPr>
          <p:cNvPr id="3" name="Content Placeholder 2"/>
          <p:cNvSpPr>
            <a:spLocks noGrp="1"/>
          </p:cNvSpPr>
          <p:nvPr>
            <p:ph idx="1"/>
          </p:nvPr>
        </p:nvSpPr>
        <p:spPr/>
        <p:txBody>
          <a:bodyPr/>
          <a:lstStyle/>
          <a:p/>
          <a:p>
            <a:pPr/>
            <a:r>
              <a:t>**\[게임 기획서\] 무한 회귀 연애 (가제)**: **작성일:** 2026년 3월 14일 **장르:** AI 음성 분석 기반 / 진지한 병맛 / 사망회귀 연애 시뮬레이션 **플랫폼:** PC (마이크 필수) / Mobile (Android/iOS) ---</a:t>
            </a:r>
          </a:p>
          <a:p>
            <a:pPr/>
            <a:r>
              <a:t>**1\. 프로젝트 개요**: * **핵심 컨셉:** 실제 여성들의 설문 데이터를 바탕으로 한 '현실적인 연애 로직'과, 실패 시 발생하는 '정신 나간 병맛 연출'이 공존하는 루프물 게임. * **게임의 목표:** 유저는 특정 상황(에피소드)에서 AI 여친의 질문에 음성으로 답하며 호감도를 채워야 한다. 호감도 미달 시 사건의 시발점으로 '사망 회귀'한다.</a:t>
            </a:r>
          </a:p>
          <a:p>
            <a:pPr/>
            <a:r>
              <a:t>**2.1. 보이스 감정 분석 시스템 (V.E.A.)**: * **STT(Speech To Text):** 유저의 발화 내용을 텍스트로 변환하여 키워드 분석. * **비언어적 요소 분석:** 목소리의 떨림(Jitter), 톤의 높낮이(Pitch), 성량 등을 분석하여 유저의 '진정성'을 판정. * *예: 사과할 때 목소리가 떨리면 '진심' 혹은 '비굴함'으로 가중치 부여.*</a:t>
            </a:r>
          </a:p>
          <a:p>
            <a:pPr/>
            <a:r>
              <a:t>**2.2. 실제 설문 데이터 기반 가중치 로직**: * **데이터 소스:** 실제 여성들을 대상으로 한 특정 상황별 선호/비선호 반응 조사 결과. * **판정 메커니즘:** 유저의 답변이 설문 데이터상의 '오답'에 해당할 경우 가차 없이 호감도 하락 및 회귀 발동.</a:t>
            </a:r>
          </a:p>
          <a:p>
            <a:pPr/>
            <a:r>
              <a:t>**2.3. 혼돈 지수 (Chaos Meter)**: * **정의:** 유저가 에피소드와 관련 없는 딴소리를 하거나, 상식을 벗어난 답변을 할 때 상승하는 수치. * **효과:** 혼돈 지수가 일정 수준을 넘으면 여친이 기상천외한 방식으로 변하거나, '히든 병맛 루트'로 진입.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핵심 시스템</a:t>
            </a:r>
          </a:p>
        </p:txBody>
      </p:sp>
      <p:sp>
        <p:nvSpPr>
          <p:cNvPr id="3" name="Content Placeholder 2"/>
          <p:cNvSpPr>
            <a:spLocks noGrp="1"/>
          </p:cNvSpPr>
          <p:nvPr>
            <p:ph idx="1"/>
          </p:nvPr>
        </p:nvSpPr>
        <p:spPr/>
        <p:txBody>
          <a:bodyPr/>
          <a:lstStyle/>
          <a:p/>
          <a:p>
            <a:pPr/>
            <a:r>
              <a:t>V.E.A. (Voice Emotion Analysis): STT + Jitter/Shimmer/Pitch/HNR</a:t>
            </a:r>
          </a:p>
          <a:p>
            <a:pPr/>
            <a:r>
              <a:t>혼돈 지수 (Chaos Meter): 딴소리/비상식 행위 트래킹</a:t>
            </a:r>
          </a:p>
          <a:p>
            <a:pPr/>
            <a:r>
              <a:t>기억 시스템: 이전 루프 기억으로 난이도 상승</a:t>
            </a:r>
          </a:p>
          <a:p>
            <a:pPr/>
            <a:r>
              <a:t>설문 데이터 기반 판정: RAG 방식 가중치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기술 스택 및 구현 가이드</a:t>
            </a:r>
          </a:p>
        </p:txBody>
      </p:sp>
      <p:sp>
        <p:nvSpPr>
          <p:cNvPr id="3" name="Content Placeholder 2"/>
          <p:cNvSpPr>
            <a:spLocks noGrp="1"/>
          </p:cNvSpPr>
          <p:nvPr>
            <p:ph idx="1"/>
          </p:nvPr>
        </p:nvSpPr>
        <p:spPr/>
        <p:txBody>
          <a:bodyPr/>
          <a:lstStyle/>
          <a:p/>
          <a:p>
            <a:pPr/>
            <a:r>
              <a:t>엔진: Unity</a:t>
            </a:r>
          </a:p>
          <a:p>
            <a:pPr/>
            <a:r>
              <a:t>AI: LLM + RAG, Whisper or Native STT</a:t>
            </a:r>
          </a:p>
          <a:p>
            <a:pPr/>
            <a:r>
              <a:t>오디오 분석: Librosa / Praat</a:t>
            </a:r>
          </a:p>
          <a:p>
            <a:pPr/>
            <a:r>
              <a:t>TTS: ElevenLabs 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리스크 및 윤리</a:t>
            </a:r>
          </a:p>
        </p:txBody>
      </p:sp>
      <p:sp>
        <p:nvSpPr>
          <p:cNvPr id="3" name="Content Placeholder 2"/>
          <p:cNvSpPr>
            <a:spLocks noGrp="1"/>
          </p:cNvSpPr>
          <p:nvPr>
            <p:ph idx="1"/>
          </p:nvPr>
        </p:nvSpPr>
        <p:spPr/>
        <p:txBody>
          <a:bodyPr/>
          <a:lstStyle/>
          <a:p/>
          <a:p>
            <a:pPr/>
            <a:r>
              <a:t>리스크</a:t>
            </a:r>
          </a:p>
          <a:p>
            <a:pPr lvl="1"/>
            <a:r>
              <a:t>- 음성 판정 오탐: 품질/잡음 보정 필요</a:t>
            </a:r>
          </a:p>
          <a:p>
            <a:pPr lvl="1"/>
            <a:r>
              <a:t>- 실제 데이터 사용 시 법적·윤리적 문제</a:t>
            </a:r>
          </a:p>
          <a:p/>
          <a:p>
            <a:pPr/>
            <a:r>
              <a:t>대응책</a:t>
            </a:r>
          </a:p>
          <a:p>
            <a:pPr lvl="1"/>
            <a:r>
              <a:t>- 캘리브레이션/노이즈 필터링</a:t>
            </a:r>
          </a:p>
          <a:p>
            <a:pPr lvl="1"/>
            <a:r>
              <a:t>- 명확한 동의 화면·익명화·보관정책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다음 작업(권장)</a:t>
            </a:r>
          </a:p>
        </p:txBody>
      </p:sp>
      <p:sp>
        <p:nvSpPr>
          <p:cNvPr id="3" name="Content Placeholder 2"/>
          <p:cNvSpPr>
            <a:spLocks noGrp="1"/>
          </p:cNvSpPr>
          <p:nvPr>
            <p:ph idx="1"/>
          </p:nvPr>
        </p:nvSpPr>
        <p:spPr/>
        <p:txBody>
          <a:bodyPr/>
          <a:lstStyle/>
          <a:p/>
          <a:p>
            <a:pPr/>
            <a:r>
              <a:t>Episode 01 프로토타입 개발: STT+키워드 매칭 + 간단 오디오 피처</a:t>
            </a:r>
          </a:p>
          <a:p>
            <a:pPr/>
            <a:r>
              <a:t>SER 모델 검증(데이터셋 확보 및 라벨링)</a:t>
            </a:r>
          </a:p>
          <a:p>
            <a:pPr/>
            <a:r>
              <a:t>동의 화면 및 개인정보 정책 초안 작성</a:t>
            </a:r>
          </a:p>
          <a:p>
            <a:pPr/>
            <a:r>
              <a:t>유저 테스팅(소규모 플레이테스트, 퀄리티 체크)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Episode 01 - 분기 플로우 (예시)</a:t>
            </a:r>
          </a:p>
        </p:txBody>
      </p:sp>
      <p:sp>
        <p:nvSpPr>
          <p:cNvPr id="3" name="Content Placeholder 2"/>
          <p:cNvSpPr>
            <a:spLocks noGrp="1"/>
          </p:cNvSpPr>
          <p:nvPr>
            <p:ph idx="1"/>
          </p:nvPr>
        </p:nvSpPr>
        <p:spPr/>
        <p:txBody>
          <a:bodyPr/>
          <a:lstStyle/>
          <a:p/>
          <a:p>
            <a:pPr/>
            <a:r>
              <a:t>질문: '나 오늘 뭐 달라진 거 없어?' (정답: 귀걸이 언급)</a:t>
            </a:r>
          </a:p>
          <a:p>
            <a:pPr/>
            <a:r>
              <a:t>정답: 호감도 상승 -&gt; 다음 스테이지</a:t>
            </a:r>
          </a:p>
          <a:p>
            <a:pPr/>
            <a:r>
              <a:t>오답: 부정적 반응 -&gt; 병맛 사망 연출(헐크 변신 등)</a:t>
            </a:r>
          </a:p>
          <a:p>
            <a:pPr/>
            <a:r>
              <a:t>딴소리/무응답: 혼돈 지수 상승 -&gt; 히든 루트/사망 회귀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판정 로직 초안 (예시)</a:t>
            </a:r>
          </a:p>
        </p:txBody>
      </p:sp>
      <p:sp>
        <p:nvSpPr>
          <p:cNvPr id="3" name="Content Placeholder 2"/>
          <p:cNvSpPr>
            <a:spLocks noGrp="1"/>
          </p:cNvSpPr>
          <p:nvPr>
            <p:ph idx="1"/>
          </p:nvPr>
        </p:nvSpPr>
        <p:spPr/>
        <p:txBody>
          <a:bodyPr/>
          <a:lstStyle/>
          <a:p/>
          <a:p>
            <a:pPr/>
            <a:r>
              <a:t>텍스트 매칭: 키워드(귀걸이) 가중치 0.4</a:t>
            </a:r>
          </a:p>
          <a:p>
            <a:pPr/>
            <a:r>
              <a:t>오디오 지표: Jitter/ Shimmer/ Pitch/ HNR 합산 가중치 0.4</a:t>
            </a:r>
          </a:p>
          <a:p>
            <a:pPr/>
            <a:r>
              <a:t>문맥 신뢰도: STT confidence 0.2</a:t>
            </a:r>
          </a:p>
          <a:p>
            <a:pPr/>
            <a:r>
              <a:t>임계치 예: 합계 &gt;= 0.7 -&gt; 통과, &lt;0.7 -&gt; 회귀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개인정보 동의(샘플)</a:t>
            </a:r>
          </a:p>
        </p:txBody>
      </p:sp>
      <p:sp>
        <p:nvSpPr>
          <p:cNvPr id="3" name="Content Placeholder 2"/>
          <p:cNvSpPr>
            <a:spLocks noGrp="1"/>
          </p:cNvSpPr>
          <p:nvPr>
            <p:ph idx="1"/>
          </p:nvPr>
        </p:nvSpPr>
        <p:spPr/>
        <p:txBody>
          <a:bodyPr/>
          <a:lstStyle/>
          <a:p/>
          <a:p>
            <a:pPr/>
            <a:r>
              <a:t>녹음 및 음성 데이터 수집에 대한 명시적 동의 필요</a:t>
            </a:r>
          </a:p>
          <a:p>
            <a:pPr/>
            <a:r>
              <a:t>익명화, 보관 기간, 이용 목적을 명시</a:t>
            </a:r>
          </a:p>
          <a:p>
            <a:pPr/>
            <a:r>
              <a:t>사용자는 언제든 데이터 삭제 요청 가능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latin typeface="Malgun Gothic"/>
              </a:rPr>
              <a:t>Cover</a:t>
            </a:r>
          </a:p>
        </p:txBody>
      </p:sp>
      <p:pic>
        <p:nvPicPr>
          <p:cNvPr id="3" name="Picture 2" descr="download_0.jpg"/>
          <p:cNvPicPr>
            <a:picLocks noChangeAspect="1"/>
          </p:cNvPicPr>
          <p:nvPr/>
        </p:nvPicPr>
        <p:blipFill>
          <a:blip r:embed="rId2"/>
          <a:stretch>
            <a:fillRect/>
          </a:stretch>
        </p:blipFill>
        <p:spPr>
          <a:xfrm>
            <a:off x="914400" y="1371600"/>
            <a:ext cx="7315200" cy="3657600"/>
          </a:xfrm>
          <a:prstGeom prst="rect">
            <a:avLst/>
          </a:prstGeom>
        </p:spPr>
      </p:pic>
      <p:sp>
        <p:nvSpPr>
          <p:cNvPr id="4" name="TextBox 3"/>
          <p:cNvSpPr txBox="1"/>
          <p:nvPr/>
        </p:nvSpPr>
        <p:spPr>
          <a:xfrm>
            <a:off x="914400" y="5760720"/>
            <a:ext cx="7315200" cy="731520"/>
          </a:xfrm>
          <a:prstGeom prst="rect">
            <a:avLst/>
          </a:prstGeom>
          <a:noFill/>
        </p:spPr>
        <p:txBody>
          <a:bodyPr wrap="none">
            <a:spAutoFit/>
          </a:bodyPr>
          <a:lstStyle/>
          <a:p>
            <a:r>
              <a:rPr sz="1800">
                <a:latin typeface="Malgun Gothic"/>
              </a:rPr>
              <a:t>무한 회귀 연애 - 프로젝트 커버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latin typeface="Malgun Gothic"/>
              </a:rPr>
              <a:t>Episode 01</a:t>
            </a:r>
          </a:p>
        </p:txBody>
      </p:sp>
      <p:pic>
        <p:nvPicPr>
          <p:cNvPr id="3" name="Picture 2" descr="download_1.jpg"/>
          <p:cNvPicPr>
            <a:picLocks noChangeAspect="1"/>
          </p:cNvPicPr>
          <p:nvPr/>
        </p:nvPicPr>
        <p:blipFill>
          <a:blip r:embed="rId2"/>
          <a:stretch>
            <a:fillRect/>
          </a:stretch>
        </p:blipFill>
        <p:spPr>
          <a:xfrm>
            <a:off x="914400" y="1371600"/>
            <a:ext cx="7315200" cy="3657600"/>
          </a:xfrm>
          <a:prstGeom prst="rect">
            <a:avLst/>
          </a:prstGeom>
        </p:spPr>
      </p:pic>
      <p:sp>
        <p:nvSpPr>
          <p:cNvPr id="4" name="TextBox 3"/>
          <p:cNvSpPr txBox="1"/>
          <p:nvPr/>
        </p:nvSpPr>
        <p:spPr>
          <a:xfrm>
            <a:off x="914400" y="5760720"/>
            <a:ext cx="7315200" cy="731520"/>
          </a:xfrm>
          <a:prstGeom prst="rect">
            <a:avLst/>
          </a:prstGeom>
          <a:noFill/>
        </p:spPr>
        <p:txBody>
          <a:bodyPr wrap="none">
            <a:spAutoFit/>
          </a:bodyPr>
          <a:lstStyle/>
          <a:p>
            <a:r>
              <a:rPr sz="1800">
                <a:latin typeface="Malgun Gothic"/>
              </a:rPr>
              <a:t>Episode 01 예시 이미지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2743200" y="731520"/>
            <a:ext cx="3657600" cy="731520"/>
          </a:xfrm>
          <a:prstGeom prst="roundRect">
            <a:avLst/>
          </a:prstGeom>
          <a:solidFill>
            <a:srgbClr val="4682B4"/>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sz="1400">
                <a:latin typeface="Malgun Gothic"/>
              </a:rPr>
              <a:t>Question: '나 오늘 뭐 달라진 거 없어?'</a:t>
            </a:r>
          </a:p>
        </p:txBody>
      </p:sp>
      <p:sp>
        <p:nvSpPr>
          <p:cNvPr id="3" name="Rounded Rectangle 2"/>
          <p:cNvSpPr/>
          <p:nvPr/>
        </p:nvSpPr>
        <p:spPr>
          <a:xfrm>
            <a:off x="914400" y="2194560"/>
            <a:ext cx="3200400" cy="731520"/>
          </a:xfrm>
          <a:prstGeom prst="roundRect">
            <a:avLst/>
          </a:prstGeom>
          <a:solidFill>
            <a:srgbClr val="66CDAA"/>
          </a:solidFill>
        </p:spPr>
        <p:style>
          <a:lnRef idx="1">
            <a:schemeClr val="accent1"/>
          </a:lnRef>
          <a:fillRef idx="3">
            <a:schemeClr val="accent1"/>
          </a:fillRef>
          <a:effectRef idx="2">
            <a:schemeClr val="accent1"/>
          </a:effectRef>
          <a:fontRef idx="minor">
            <a:schemeClr val="lt1"/>
          </a:fontRef>
        </p:style>
        <p:txBody>
          <a:bodyPr rtlCol="0" anchor="ctr"/>
          <a:lstStyle/>
          <a:p>
            <a:r>
              <a:rPr sz="1200">
                <a:latin typeface="Malgun Gothic"/>
              </a:rPr>
              <a:t>정답: 귀걸이 언급</a:t>
            </a:r>
          </a:p>
          <a:p>
            <a:r>
              <a:rPr sz="1200">
                <a:latin typeface="Malgun Gothic"/>
              </a:rPr>
              <a:t>-&gt; 통과</a:t>
            </a:r>
          </a:p>
        </p:txBody>
      </p:sp>
      <p:sp>
        <p:nvSpPr>
          <p:cNvPr id="4" name="Rounded Rectangle 3"/>
          <p:cNvSpPr/>
          <p:nvPr/>
        </p:nvSpPr>
        <p:spPr>
          <a:xfrm>
            <a:off x="4572000" y="2194560"/>
            <a:ext cx="3200400" cy="731520"/>
          </a:xfrm>
          <a:prstGeom prst="roundRect">
            <a:avLst/>
          </a:prstGeom>
          <a:solidFill>
            <a:srgbClr val="F08080"/>
          </a:solidFill>
        </p:spPr>
        <p:style>
          <a:lnRef idx="1">
            <a:schemeClr val="accent1"/>
          </a:lnRef>
          <a:fillRef idx="3">
            <a:schemeClr val="accent1"/>
          </a:fillRef>
          <a:effectRef idx="2">
            <a:schemeClr val="accent1"/>
          </a:effectRef>
          <a:fontRef idx="minor">
            <a:schemeClr val="lt1"/>
          </a:fontRef>
        </p:style>
        <p:txBody>
          <a:bodyPr rtlCol="0" anchor="ctr"/>
          <a:lstStyle/>
          <a:p>
            <a:r>
              <a:rPr sz="1200">
                <a:latin typeface="Malgun Gothic"/>
              </a:rPr>
              <a:t>오답: 부정적 반응</a:t>
            </a:r>
          </a:p>
          <a:p>
            <a:r>
              <a:rPr sz="1200">
                <a:latin typeface="Malgun Gothic"/>
              </a:rPr>
              <a:t>-&gt; 병맛 회귀</a:t>
            </a:r>
          </a:p>
        </p:txBody>
      </p:sp>
      <p:cxnSp>
        <p:nvCxnSpPr>
          <p:cNvPr id="5" name="Connector 4"/>
          <p:cNvCxnSpPr/>
          <p:nvPr/>
        </p:nvCxnSpPr>
        <p:spPr>
          <a:xfrm flipH="1">
            <a:off x="1371600" y="1463040"/>
            <a:ext cx="1554480" cy="73152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5029200" y="1463040"/>
            <a:ext cx="1188720" cy="73152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